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5" r:id="rId10"/>
    <p:sldId id="266" r:id="rId11"/>
    <p:sldId id="269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B2C"/>
    <a:srgbClr val="FFFFFF"/>
    <a:srgbClr val="0D274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512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5123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
- Introduce the project as a data storytelling presentation for government workforce planning.
Main data highlights:
- Cleaned dataset contains 1,026,576 job records.
- Analysis period runs from October 2022 to May 2024.
- Persona is Government Workforce Planner, labelled Persona C.
Speaker points:
- Open with the policy objective: detect structural hiring difficulty.
- Position the presentation as evidence-led, not anecdotal.
- Avoid over-explaining methods on this opening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
- Frame the business problem before showing analysis.
Main data highlights:
- The presentation investigates structural hiring difficulty across sectors and roles.
- Focus is on labour supply–demand mismatch and grant prioritisation.
Speaker points:
- Explain that temporary vacancies are different from structural hiring difficulty.
- Emphasise that policy resources should be prioritised with evidence.
- Transition by saying the next slide shows how the dataset was prepared.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
- Show that the analysis is built on a cleaned and validated dataset.
Main data highlights:
- Raw dataset: 1,048,585 rows and 22 columns.
- Cleaned dataset: 1,026,576 records.
- Date range: 3 October 2022 to 29 May 2024.
- Unique job post IDs after cleaning: 1,026,576.
Speaker points:
- Keep the explanation simple for a non-technical audience.
- Mention date conversion, missing values, outlier review and cleaned validation.
- Emphasise that the cleaned dataset is the foundation for all subsequent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
- Explain the scoring approach in business terms.
Main data highlights:
- Difficulty score combines repost count, vacancies and low applications.
- Variables are normalised to a 0–1 scale.
- Applications are inverse-normalised so fewer applications increase difficulty.
Speaker points:
- Say the index allows consistent comparison across sectors and position levels.
- Avoid going too deep into formula mechanics.
- Transition to sector-level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
- Present the first major insight: hiring difficulty differs by sector.
Main data highlights:
- Public / Civil Service: 0.3509.
- Hospitality: 0.3494.
- Engineering: 0.3483.
- Customer Service: 0.3460.
- Healthcare / Pharmaceutical: 0.3459.
Speaker points:
- Explain that these are average difficulty scores by primary category.
- Emphasise that the top sectors are close, so they should be treated as a priority cluster.
- Connect the finding to targeted policy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
- Narrow the sector analysis into an actionable top-five priority list.
Main data highlights:
- Top 5: Public / Civil Service, Hospitality, Engineering, Customer Service, Healthcare / Pharmaceutical.
- Scores range from 0.3509 to 0.3459.
Speaker points:
- Explain that the sectors require different intervention types.
- Hospitality and Customer Service may relate to job attractiveness and retention.
- Engineering and Healthcare may require skills pipeline or conversion programmes.
- Keep the message actionable and policy-oriented.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
- Show the second insight: lower-level roles have higher average difficulty scores.
Main data highlights:
- Non-executive: 0.3454.
- Fresh/entry level: 0.3446.
- Senior Management: 0.3386.
Speaker points:
- State clearly that the result is not what many people might expect.
- Explain that structural hiring difficulty may also be a frontline workforce issue.
- Avoid claiming causation; keep it as an observed pattern from the difficulty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303F0-E879-F115-EB24-25A6A6F96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5596B-4D30-6D5D-E476-BFE58B79A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D3332-8DCE-9EC7-2F7E-76A501F31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
- Explain how the scatter plot identifies potential supply–demand mismatch.
Main data highlights:
- Application rate was calculated as applications divided by views.
- High-vacancy roles were filtered using numberOfVacancies greater than 100.
- The chart is from the notebook output.
Speaker points:
- Tell the audience that these roles may be seen by candidates but not converted into applications.
- Use this as a policy signal for deeper investigation.
- Do not name specific outlier roles unless they are clearly labelled and verified in the notebook.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AB3AB-8D04-C5A6-EBBA-913DC47C5F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02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
- Show that the notebook also examined repost trends over time for the top five sectors.
Main data highlights:
- Top 5 sectors are selected from the difficulty-score ranking.
- Monthly repost counts are summed by sector.
- The line chart is from the notebook output.
Speaker points:
- Explain that repost trends are useful because persistent reposting can indicate ongoing hiring pressure.
- Avoid adding new numbers that are not printed in the notebook output.
- Position this chart as supporting evidence rather than a standalone causal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
- Demonstrate analytical maturity by acknowledging limitations.
Main data highlights:
- Repost count is a proxy measure.
- Application volume does not measure applicant quality.
- Dataset period is October 2022 to May 2024.
Speaker points:
- Frame limitations professionally, not defensively.
- Say the index is a prioritisation tool rather than the final answer.
- Transition to the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
• This slide turns the top 5 ranking into policy priorities.
Main data highlights
• Top 5 sectors: Public / Civil Service, Hospitality, Engineering, Customer Service, Healthcare / Pharmaceutical.
• Scores are close, ranging from 0.3509 to 0.3459.
• The sector mix suggests different causes and different intervention types.
Speaker points
• Avoid presenting the ranking as a simple winner-takes-all result.
• Explain that service sectors may need attraction and job redesign.
• Explain that engineering and healthcare may need longer-term skills conversion and training pathways.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D8FF"/>
          </a:solidFill>
          <a:ln w="12700">
            <a:solidFill>
              <a:srgbClr val="38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137160"/>
            <a:ext cx="685800" cy="685800"/>
          </a:xfrm>
          <a:prstGeom prst="line">
            <a:avLst/>
          </a:prstGeom>
          <a:noFill/>
          <a:ln w="25400">
            <a:solidFill>
              <a:srgbClr val="38D8F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1320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54512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54512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54512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54512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47704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47704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47704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47704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40896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40896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40896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40896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713232"/>
            <a:ext cx="1691640" cy="256032"/>
          </a:xfrm>
          <a:prstGeom prst="roundRect">
            <a:avLst>
              <a:gd name="adj" fmla="val 14286"/>
            </a:avLst>
          </a:prstGeom>
          <a:solidFill>
            <a:srgbClr val="102D49"/>
          </a:solidFill>
          <a:ln w="12700">
            <a:solidFill>
              <a:srgbClr val="79E6A5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781812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9E6A5"/>
                </a:solidFill>
              </a:rPr>
              <a:t>Team 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" y="123444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Identifying Structural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Hiring Difficulties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Singapore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58368" y="3922777"/>
            <a:ext cx="626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8D8FF"/>
                </a:solidFill>
              </a:rPr>
              <a:t>Using job posting data to detect persistent labour supply–demand mismatch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7726680" y="1143000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3588" y="1307592"/>
            <a:ext cx="2660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D35A"/>
                </a:solidFill>
              </a:rPr>
              <a:t>1,026,576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202168" y="1655064"/>
            <a:ext cx="2660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C7D9"/>
                </a:solidFill>
              </a:rPr>
              <a:t>cleaned job records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26680" y="2103120"/>
            <a:ext cx="3502152" cy="749808"/>
          </a:xfrm>
          <a:prstGeom prst="roundRect">
            <a:avLst>
              <a:gd name="adj" fmla="val 9756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36408" y="2267712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D8FF"/>
                </a:solidFill>
              </a:rPr>
              <a:t>Oct 2022–May 2024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202168" y="2615184"/>
            <a:ext cx="2660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C7D9"/>
                </a:solidFill>
              </a:rPr>
              <a:t>analysis period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26680" y="3063240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3588" y="3227832"/>
            <a:ext cx="2660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9E6A5"/>
                </a:solidFill>
              </a:rPr>
              <a:t>Persona C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8174736" y="3570732"/>
            <a:ext cx="2660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C7D9"/>
                </a:solidFill>
              </a:rPr>
              <a:t>government workforce planner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source: hackathon-team-5.ipynb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0835640" y="648309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B8C7D9"/>
                </a:solidFill>
              </a:rPr>
              <a:t>0:00–0:30  •  1/12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D8FF"/>
          </a:solidFill>
          <a:ln w="12700">
            <a:solidFill>
              <a:srgbClr val="38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137160"/>
            <a:ext cx="685800" cy="685800"/>
          </a:xfrm>
          <a:prstGeom prst="line">
            <a:avLst/>
          </a:prstGeom>
          <a:noFill/>
          <a:ln w="25400">
            <a:solidFill>
              <a:srgbClr val="38D8F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1320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54512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54512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54512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54512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47704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47704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47704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47704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40896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40896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40896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40896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20624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Workforce Planning Problem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94360" y="768096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D8FF"/>
                </a:solidFill>
              </a:rPr>
              <a:t>Why this matters for retraining grants and labour policy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" y="123444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15087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D35A"/>
                </a:solidFill>
              </a:rPr>
              <a:t>Problem statement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4400" y="2688336"/>
            <a:ext cx="45262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7FBFF"/>
                </a:solidFill>
              </a:rPr>
              <a:t>The Ministry of Manpower lacks a data-driven framework to identify and quantify structural hiring difficulties across sectors and job roles, limiting its ability to prioritise retraining grants for areas facing persistent labour supply–demand mismatches.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126480" y="12344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15087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D8FF"/>
                </a:solidFill>
              </a:rPr>
              <a:t>Research questions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00800" y="1901952"/>
            <a:ext cx="487680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F7FBFF"/>
                </a:solidFill>
              </a:rPr>
              <a:t>Which sectors have the highest hiring difficulty?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F7FBFF"/>
                </a:solidFill>
              </a:rPr>
              <a:t>Does position level affect hiring difficulty?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F7FBFF"/>
                </a:solidFill>
              </a:rPr>
              <a:t>Which roles have high vacancies but low applicants?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F7FBFF"/>
                </a:solidFill>
              </a:rPr>
              <a:t>What are the top 5 hardest-to-fill sectors?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2920" y="6492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source: hackathon-team-5.ipynb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0835640" y="648309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B8C7D9"/>
                </a:solidFill>
              </a:rPr>
              <a:t>0:30–1:15  •  2/12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D8FF"/>
          </a:solidFill>
          <a:ln w="12700">
            <a:solidFill>
              <a:srgbClr val="38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137160"/>
            <a:ext cx="685800" cy="685800"/>
          </a:xfrm>
          <a:prstGeom prst="line">
            <a:avLst/>
          </a:prstGeom>
          <a:noFill/>
          <a:ln w="25400">
            <a:solidFill>
              <a:srgbClr val="38D8F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1320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54512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54512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54512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54512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47704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47704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47704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47704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40896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40896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40896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40896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148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Building a Reliable Analytical Base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94360" y="768096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D8FF"/>
                </a:solidFill>
              </a:rPr>
              <a:t>Data cleaning before insight generation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" y="1234440"/>
            <a:ext cx="2240280" cy="786384"/>
          </a:xfrm>
          <a:prstGeom prst="roundRect">
            <a:avLst>
              <a:gd name="adj" fmla="val 9302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1399032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35A"/>
                </a:solidFill>
              </a:rPr>
              <a:t>1,048,585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68096" y="1746504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C7D9"/>
                </a:solidFill>
              </a:rPr>
              <a:t>raw rows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127248" y="1234440"/>
            <a:ext cx="2240280" cy="786384"/>
          </a:xfrm>
          <a:prstGeom prst="roundRect">
            <a:avLst>
              <a:gd name="adj" fmla="val 9302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36976" y="1399032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D8FF"/>
                </a:solidFill>
              </a:rPr>
              <a:t>22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236976" y="1746504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C7D9"/>
                </a:solidFill>
              </a:rPr>
              <a:t>raw columns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96128" y="1234440"/>
            <a:ext cx="2240280" cy="786384"/>
          </a:xfrm>
          <a:prstGeom prst="roundRect">
            <a:avLst>
              <a:gd name="adj" fmla="val 9302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05856" y="1399032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9E6A5"/>
                </a:solidFill>
              </a:rPr>
              <a:t>1,026,576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705856" y="1746504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C7D9"/>
                </a:solidFill>
              </a:rPr>
              <a:t>cleaned records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65008" y="1234440"/>
            <a:ext cx="2880360" cy="786384"/>
          </a:xfrm>
          <a:prstGeom prst="roundRect">
            <a:avLst>
              <a:gd name="adj" fmla="val 9302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72984" y="1463040"/>
            <a:ext cx="3300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D8FF"/>
                </a:solidFill>
              </a:rPr>
              <a:t>3 Oct 22–29 May 24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174736" y="1746504"/>
            <a:ext cx="2660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C7D9"/>
                </a:solidFill>
              </a:rPr>
              <a:t>posting date range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8368" y="2395728"/>
            <a:ext cx="5120640" cy="3520440"/>
          </a:xfrm>
          <a:prstGeom prst="roundRect">
            <a:avLst>
              <a:gd name="adj" fmla="val 2078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265176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35A"/>
                </a:solidFill>
              </a:rPr>
              <a:t>Cleaning workflow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14400" y="3063240"/>
            <a:ext cx="448056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dirty="0">
                <a:solidFill>
                  <a:srgbClr val="F7FBFF"/>
                </a:solidFill>
              </a:rPr>
              <a:t>Converted posting dates into datetime format</a:t>
            </a:r>
            <a:endParaRPr lang="en-US" dirty="0"/>
          </a:p>
          <a:p>
            <a:r>
              <a:rPr lang="en-US" dirty="0">
                <a:solidFill>
                  <a:srgbClr val="F7FBFF"/>
                </a:solidFill>
              </a:rPr>
              <a:t>Reviewed null counts and basic statistics</a:t>
            </a:r>
            <a:endParaRPr lang="en-US" dirty="0"/>
          </a:p>
          <a:p>
            <a:r>
              <a:rPr lang="en-US" dirty="0">
                <a:solidFill>
                  <a:srgbClr val="F7FBFF"/>
                </a:solidFill>
              </a:rPr>
              <a:t>Removed salary outliers using 99th percentile logic</a:t>
            </a:r>
            <a:endParaRPr lang="en-US" dirty="0"/>
          </a:p>
          <a:p>
            <a:r>
              <a:rPr lang="en-US" dirty="0">
                <a:solidFill>
                  <a:srgbClr val="F7FBFF"/>
                </a:solidFill>
              </a:rPr>
              <a:t>Created cleaned DataFrame for analysis</a:t>
            </a:r>
            <a:endParaRPr lang="en-US" dirty="0"/>
          </a:p>
          <a:p>
            <a:r>
              <a:rPr lang="en-US" dirty="0">
                <a:solidFill>
                  <a:srgbClr val="F7FBFF"/>
                </a:solidFill>
              </a:rPr>
              <a:t>Validated cleaned shape and unique job post IDs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144768" y="2395728"/>
            <a:ext cx="5166360" cy="3520440"/>
          </a:xfrm>
          <a:prstGeom prst="roundRect">
            <a:avLst>
              <a:gd name="adj" fmla="val 2078"/>
            </a:avLst>
          </a:prstGeom>
          <a:solidFill>
            <a:srgbClr val="081A2B"/>
          </a:solidFill>
          <a:ln w="13970">
            <a:solidFill>
              <a:srgbClr val="285575">
                <a:alpha val="8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2505456"/>
            <a:ext cx="4910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D8FF"/>
                </a:solidFill>
              </a:rPr>
              <a:t>Code used to validate the cleaned dataset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91072" y="2743200"/>
            <a:ext cx="4873752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df['metadata_originalPostingDate'] = pd.to_datetime(df['metadata_originalPostingDate'])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df['metadata_newPostingDate'] = pd.to_datetime(df['metadata_newPostingDate'])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df['metadata_expiryDate'] = pd.to_datetime(df['metadata_expiryDate'])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print(df_clean.shape)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print(df_clean['metadata_originalPostingDate'].min(), df_clean['metadata_originalPostingDate'].max())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print(df_clean['metadata_jobPostId'].nunique())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920" y="6492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source: hackathon-team-5.ipynb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10835640" y="648309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B8C7D9"/>
                </a:solidFill>
              </a:rPr>
              <a:t>1:15–2:05  •  3/12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D8FF"/>
          </a:solidFill>
          <a:ln w="12700">
            <a:solidFill>
              <a:srgbClr val="38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137160"/>
            <a:ext cx="685800" cy="685800"/>
          </a:xfrm>
          <a:prstGeom prst="line">
            <a:avLst/>
          </a:prstGeom>
          <a:noFill/>
          <a:ln w="25400">
            <a:solidFill>
              <a:srgbClr val="38D8F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1320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54512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54512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54512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54512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47704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47704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47704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47704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40896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40896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40896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40896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148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Creating a Hiring Difficulty Score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4360" y="768096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D8FF"/>
                </a:solidFill>
              </a:rPr>
              <a:t>Combining demand pressure and applicant response into one index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" y="12344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1435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35A"/>
                </a:solidFill>
              </a:rPr>
              <a:t>1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234440" y="13898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7FBFF"/>
                </a:solidFill>
              </a:rPr>
              <a:t>Normalised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7FBFF"/>
                </a:solidFill>
              </a:rPr>
              <a:t>repost count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480560" y="12344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1435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35A"/>
                </a:solidFill>
              </a:rPr>
              <a:t>2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056632" y="13898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7FBFF"/>
                </a:solidFill>
              </a:rPr>
              <a:t>Normalised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7FBFF"/>
                </a:solidFill>
              </a:rPr>
              <a:t>number of vacancies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8302752" y="12344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13064" y="1435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35A"/>
                </a:solidFill>
              </a:rPr>
              <a:t>3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878824" y="13898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7FBFF"/>
                </a:solidFill>
              </a:rPr>
              <a:t>Inverse-normalised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7FBFF"/>
                </a:solidFill>
              </a:rPr>
              <a:t>applications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58368" y="2788920"/>
            <a:ext cx="5212080" cy="2606040"/>
          </a:xfrm>
          <a:prstGeom prst="roundRect">
            <a:avLst>
              <a:gd name="adj" fmla="val 2807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306324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8D8FF"/>
                </a:solidFill>
              </a:rPr>
              <a:t>Higher score = harder to fill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05840" y="3703320"/>
            <a:ext cx="4480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7FBFF"/>
                </a:solidFill>
              </a:rPr>
              <a:t>The score is the average of the three normalised components. Lower application volume increases the score because it signals weaker candidate response.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44768" y="2788920"/>
            <a:ext cx="5166360" cy="3630168"/>
          </a:xfrm>
          <a:prstGeom prst="roundRect">
            <a:avLst>
              <a:gd name="adj" fmla="val 2807"/>
            </a:avLst>
          </a:prstGeom>
          <a:solidFill>
            <a:srgbClr val="081A2B"/>
          </a:solidFill>
          <a:ln w="13970">
            <a:solidFill>
              <a:srgbClr val="285575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2898648"/>
            <a:ext cx="4910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D8FF"/>
                </a:solidFill>
              </a:rPr>
              <a:t>Difficulty score code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91072" y="3575304"/>
            <a:ext cx="4873752" cy="2167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F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normalize(col):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F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(col - col.min()) / (col.max() - col.min())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F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repost_norm = normalize(df_clean['metadata_repostCount'])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F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vacancies_norm = normalize(df_clean['numberOfVacancies'])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F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apps_norm = 1 - normalize(df_clean['metadata_totalNumberJobApplication'])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F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df_clean['hiring_difficulty_score'] = (repost_norm + vacancies_norm + apps_norm) / 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source: hackathon-team-5.ipynb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0835640" y="648309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B8C7D9"/>
                </a:solidFill>
              </a:rPr>
              <a:t>2:05–2:50  •  4/12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D8FF"/>
          </a:solidFill>
          <a:ln w="12700">
            <a:solidFill>
              <a:srgbClr val="38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137160"/>
            <a:ext cx="685800" cy="685800"/>
          </a:xfrm>
          <a:prstGeom prst="line">
            <a:avLst/>
          </a:prstGeom>
          <a:noFill/>
          <a:ln w="25400">
            <a:solidFill>
              <a:srgbClr val="38D8F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1320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54512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54512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54512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54512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47704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47704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47704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47704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40896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40896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40896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40896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148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Insight 1: Some Sectors Show Structural Hiring Difficulty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4360" y="768096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D8FF"/>
                </a:solidFill>
              </a:rPr>
              <a:t>Ranked by average hiring difficulty score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" y="1170432"/>
            <a:ext cx="6629400" cy="5074920"/>
          </a:xfrm>
          <a:prstGeom prst="roundRect">
            <a:avLst>
              <a:gd name="adj" fmla="val 1441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pic>
        <p:nvPicPr>
          <p:cNvPr id="23" name="Image 0" descr="/mnt/data/rebuild_assets/sector_top10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89888"/>
            <a:ext cx="6217920" cy="4443984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7543800" y="1170432"/>
            <a:ext cx="3977640" cy="5074920"/>
          </a:xfrm>
          <a:prstGeom prst="roundRect">
            <a:avLst>
              <a:gd name="adj" fmla="val 1839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18120" y="15087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35A"/>
                </a:solidFill>
              </a:rPr>
              <a:t>Top sector signals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7818120" y="1938528"/>
            <a:ext cx="411480" cy="347472"/>
          </a:xfrm>
          <a:prstGeom prst="rect">
            <a:avLst/>
          </a:prstGeom>
          <a:solidFill>
            <a:srgbClr val="102D49"/>
          </a:solidFill>
          <a:ln w="6350">
            <a:solidFill>
              <a:srgbClr val="2E5F82">
                <a:alpha val="6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99248" y="2020824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8D8FF"/>
                </a:solidFill>
              </a:rPr>
              <a:t>Rank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229600" y="1938528"/>
            <a:ext cx="2148840" cy="347472"/>
          </a:xfrm>
          <a:prstGeom prst="rect">
            <a:avLst/>
          </a:prstGeom>
          <a:solidFill>
            <a:srgbClr val="102D49"/>
          </a:solidFill>
          <a:ln w="6350">
            <a:solidFill>
              <a:srgbClr val="2E5F82">
                <a:alpha val="6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75320" y="202082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8D8FF"/>
                </a:solidFill>
              </a:rPr>
              <a:t>Sector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0378440" y="1938528"/>
            <a:ext cx="777240" cy="347472"/>
          </a:xfrm>
          <a:prstGeom prst="rect">
            <a:avLst/>
          </a:prstGeom>
          <a:solidFill>
            <a:srgbClr val="102D49"/>
          </a:solidFill>
          <a:ln w="6350">
            <a:solidFill>
              <a:srgbClr val="2E5F82">
                <a:alpha val="6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424160" y="202082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8D8FF"/>
                </a:solidFill>
              </a:rPr>
              <a:t>Score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818120" y="2286000"/>
            <a:ext cx="411480" cy="347472"/>
          </a:xfrm>
          <a:prstGeom prst="rect">
            <a:avLst/>
          </a:prstGeom>
          <a:solidFill>
            <a:srgbClr val="0A2238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63840" y="236829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BFF"/>
                </a:solidFill>
              </a:rPr>
              <a:t>1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229600" y="2286000"/>
            <a:ext cx="2148840" cy="347472"/>
          </a:xfrm>
          <a:prstGeom prst="rect">
            <a:avLst/>
          </a:prstGeom>
          <a:solidFill>
            <a:srgbClr val="0A2238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75320" y="236829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BFF"/>
                </a:solidFill>
              </a:rPr>
              <a:t>Public / Civil Service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0378440" y="2286000"/>
            <a:ext cx="777240" cy="347472"/>
          </a:xfrm>
          <a:prstGeom prst="rect">
            <a:avLst/>
          </a:prstGeom>
          <a:solidFill>
            <a:srgbClr val="0A2238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424160" y="236829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7FBFF"/>
                </a:solidFill>
              </a:rPr>
              <a:t>0.3509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818120" y="2633472"/>
            <a:ext cx="411480" cy="347472"/>
          </a:xfrm>
          <a:prstGeom prst="rect">
            <a:avLst/>
          </a:prstGeom>
          <a:solidFill>
            <a:srgbClr val="0C2943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63840" y="27157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BFF"/>
                </a:solidFill>
              </a:rPr>
              <a:t>2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229600" y="2633472"/>
            <a:ext cx="2148840" cy="347472"/>
          </a:xfrm>
          <a:prstGeom prst="rect">
            <a:avLst/>
          </a:prstGeom>
          <a:solidFill>
            <a:srgbClr val="0C2943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275320" y="2715768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BFF"/>
                </a:solidFill>
              </a:rPr>
              <a:t>Hospitality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0378440" y="2633472"/>
            <a:ext cx="777240" cy="347472"/>
          </a:xfrm>
          <a:prstGeom prst="rect">
            <a:avLst/>
          </a:prstGeom>
          <a:solidFill>
            <a:srgbClr val="0C2943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424160" y="2715768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7FBFF"/>
                </a:solidFill>
              </a:rPr>
              <a:t>0.3494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818120" y="2980944"/>
            <a:ext cx="411480" cy="347472"/>
          </a:xfrm>
          <a:prstGeom prst="rect">
            <a:avLst/>
          </a:prstGeom>
          <a:solidFill>
            <a:srgbClr val="0A2238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863840" y="306324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BFF"/>
                </a:solidFill>
              </a:rPr>
              <a:t>3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229600" y="2980944"/>
            <a:ext cx="2148840" cy="347472"/>
          </a:xfrm>
          <a:prstGeom prst="rect">
            <a:avLst/>
          </a:prstGeom>
          <a:solidFill>
            <a:srgbClr val="0A2238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275320" y="3063240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BFF"/>
                </a:solidFill>
              </a:rPr>
              <a:t>Engineering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10378440" y="2980944"/>
            <a:ext cx="777240" cy="347472"/>
          </a:xfrm>
          <a:prstGeom prst="rect">
            <a:avLst/>
          </a:prstGeom>
          <a:solidFill>
            <a:srgbClr val="0A2238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424160" y="306324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7FBFF"/>
                </a:solidFill>
              </a:rPr>
              <a:t>0.3483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7818120" y="3328416"/>
            <a:ext cx="411480" cy="347472"/>
          </a:xfrm>
          <a:prstGeom prst="rect">
            <a:avLst/>
          </a:prstGeom>
          <a:solidFill>
            <a:srgbClr val="0C2943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863840" y="34107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BFF"/>
                </a:solidFill>
              </a:rPr>
              <a:t>4</a:t>
            </a:r>
            <a:endParaRPr lang="en-US" sz="1600" b="1" dirty="0"/>
          </a:p>
        </p:txBody>
      </p:sp>
      <p:sp>
        <p:nvSpPr>
          <p:cNvPr id="52" name="Shape 49"/>
          <p:cNvSpPr/>
          <p:nvPr/>
        </p:nvSpPr>
        <p:spPr>
          <a:xfrm>
            <a:off x="8229600" y="3328416"/>
            <a:ext cx="2148840" cy="347472"/>
          </a:xfrm>
          <a:prstGeom prst="rect">
            <a:avLst/>
          </a:prstGeom>
          <a:solidFill>
            <a:srgbClr val="0C2943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275320" y="341071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BFF"/>
                </a:solidFill>
              </a:rPr>
              <a:t>Customer Service</a:t>
            </a:r>
            <a:endParaRPr lang="en-US" sz="1600" b="1" dirty="0"/>
          </a:p>
        </p:txBody>
      </p:sp>
      <p:sp>
        <p:nvSpPr>
          <p:cNvPr id="54" name="Shape 51"/>
          <p:cNvSpPr/>
          <p:nvPr/>
        </p:nvSpPr>
        <p:spPr>
          <a:xfrm>
            <a:off x="10378440" y="3328416"/>
            <a:ext cx="777240" cy="347472"/>
          </a:xfrm>
          <a:prstGeom prst="rect">
            <a:avLst/>
          </a:prstGeom>
          <a:solidFill>
            <a:srgbClr val="0C2943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424160" y="341071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7FBFF"/>
                </a:solidFill>
              </a:rPr>
              <a:t>0.3460</a:t>
            </a:r>
            <a:endParaRPr lang="en-US" sz="1600" b="1" dirty="0"/>
          </a:p>
        </p:txBody>
      </p:sp>
      <p:sp>
        <p:nvSpPr>
          <p:cNvPr id="56" name="Shape 53"/>
          <p:cNvSpPr/>
          <p:nvPr/>
        </p:nvSpPr>
        <p:spPr>
          <a:xfrm>
            <a:off x="7818120" y="3675888"/>
            <a:ext cx="411480" cy="347472"/>
          </a:xfrm>
          <a:prstGeom prst="rect">
            <a:avLst/>
          </a:prstGeom>
          <a:solidFill>
            <a:srgbClr val="0A2238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863840" y="375818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BFF"/>
                </a:solidFill>
              </a:rPr>
              <a:t>5</a:t>
            </a:r>
            <a:endParaRPr lang="en-US" sz="1600" b="1" dirty="0"/>
          </a:p>
        </p:txBody>
      </p:sp>
      <p:sp>
        <p:nvSpPr>
          <p:cNvPr id="58" name="Shape 55"/>
          <p:cNvSpPr/>
          <p:nvPr/>
        </p:nvSpPr>
        <p:spPr>
          <a:xfrm>
            <a:off x="8229600" y="3675888"/>
            <a:ext cx="2148840" cy="347472"/>
          </a:xfrm>
          <a:prstGeom prst="rect">
            <a:avLst/>
          </a:prstGeom>
          <a:solidFill>
            <a:srgbClr val="0A2238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275320" y="375818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BFF"/>
                </a:solidFill>
              </a:rPr>
              <a:t>Healthcare / Pharmaceutical</a:t>
            </a:r>
            <a:endParaRPr lang="en-US" sz="1600" b="1" dirty="0"/>
          </a:p>
        </p:txBody>
      </p:sp>
      <p:sp>
        <p:nvSpPr>
          <p:cNvPr id="60" name="Shape 57"/>
          <p:cNvSpPr/>
          <p:nvPr/>
        </p:nvSpPr>
        <p:spPr>
          <a:xfrm>
            <a:off x="10378440" y="3675888"/>
            <a:ext cx="777240" cy="347472"/>
          </a:xfrm>
          <a:prstGeom prst="rect">
            <a:avLst/>
          </a:prstGeom>
          <a:solidFill>
            <a:srgbClr val="0A2238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424160" y="375818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7FBFF"/>
                </a:solidFill>
              </a:rPr>
              <a:t>0.3459</a:t>
            </a:r>
            <a:endParaRPr lang="en-US" sz="1600" b="1" dirty="0"/>
          </a:p>
        </p:txBody>
      </p:sp>
      <p:sp>
        <p:nvSpPr>
          <p:cNvPr id="62" name="Text 59"/>
          <p:cNvSpPr/>
          <p:nvPr/>
        </p:nvSpPr>
        <p:spPr>
          <a:xfrm>
            <a:off x="7818120" y="46177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D8FF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7818120" y="4919472"/>
            <a:ext cx="3200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7FBFF"/>
                </a:solidFill>
              </a:rPr>
              <a:t>The highest-scoring sectors combine repeated reposting, vacancy pressure and weaker applicant response.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502920" y="6492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source: hackathon-team-5.ipynb</a:t>
            </a:r>
            <a:endParaRPr lang="en-US" sz="650" dirty="0"/>
          </a:p>
        </p:txBody>
      </p:sp>
      <p:sp>
        <p:nvSpPr>
          <p:cNvPr id="65" name="Text 62"/>
          <p:cNvSpPr/>
          <p:nvPr/>
        </p:nvSpPr>
        <p:spPr>
          <a:xfrm>
            <a:off x="10835640" y="648309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B8C7D9"/>
                </a:solidFill>
              </a:rPr>
              <a:t>2:50–4:10  •  5/12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D8FF"/>
          </a:solidFill>
          <a:ln w="12700">
            <a:solidFill>
              <a:srgbClr val="38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137160"/>
            <a:ext cx="685800" cy="685800"/>
          </a:xfrm>
          <a:prstGeom prst="line">
            <a:avLst/>
          </a:prstGeom>
          <a:noFill/>
          <a:ln w="25400">
            <a:solidFill>
              <a:srgbClr val="38D8F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1320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54512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54512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54512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54512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47704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47704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47704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47704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40896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40896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40896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40896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148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5 Priority Sectors for Intervention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4360" y="768096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D8FF"/>
                </a:solidFill>
              </a:rPr>
              <a:t>A focused view for grant and programme prioritisation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" y="1188720"/>
            <a:ext cx="5715000" cy="4846320"/>
          </a:xfrm>
          <a:prstGeom prst="roundRect">
            <a:avLst>
              <a:gd name="adj" fmla="val 1509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pic>
        <p:nvPicPr>
          <p:cNvPr id="23" name="Image 0" descr="/mnt/data/rebuild_assets/top5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5257800" cy="429768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720840" y="1188720"/>
            <a:ext cx="4709160" cy="4846320"/>
          </a:xfrm>
          <a:prstGeom prst="roundRect">
            <a:avLst>
              <a:gd name="adj" fmla="val 1553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40880" y="15087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D35A"/>
                </a:solidFill>
              </a:rPr>
              <a:t>Policy reading</a:t>
            </a:r>
            <a:endParaRPr lang="en-US" sz="3600" dirty="0"/>
          </a:p>
        </p:txBody>
      </p:sp>
      <p:sp>
        <p:nvSpPr>
          <p:cNvPr id="26" name="Shape 23"/>
          <p:cNvSpPr/>
          <p:nvPr/>
        </p:nvSpPr>
        <p:spPr>
          <a:xfrm>
            <a:off x="7040880" y="1965960"/>
            <a:ext cx="2971800" cy="347472"/>
          </a:xfrm>
          <a:prstGeom prst="rect">
            <a:avLst/>
          </a:prstGeom>
          <a:solidFill>
            <a:srgbClr val="102D49"/>
          </a:solidFill>
          <a:ln w="6350">
            <a:solidFill>
              <a:srgbClr val="2E5F82">
                <a:alpha val="6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86600" y="2048256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8D8FF"/>
                </a:solidFill>
              </a:rPr>
              <a:t>Sector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012680" y="1965960"/>
            <a:ext cx="1051560" cy="347472"/>
          </a:xfrm>
          <a:prstGeom prst="rect">
            <a:avLst/>
          </a:prstGeom>
          <a:solidFill>
            <a:srgbClr val="102D49"/>
          </a:solidFill>
          <a:ln w="6350">
            <a:solidFill>
              <a:srgbClr val="2E5F82">
                <a:alpha val="6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058400" y="204825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8D8FF"/>
                </a:solidFill>
              </a:rPr>
              <a:t>Score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040880" y="2313432"/>
            <a:ext cx="2971800" cy="347472"/>
          </a:xfrm>
          <a:prstGeom prst="rect">
            <a:avLst/>
          </a:prstGeom>
          <a:solidFill>
            <a:srgbClr val="0A2238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86600" y="2395728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7FBFF"/>
                </a:solidFill>
              </a:rPr>
              <a:t>Public / Civil Service</a:t>
            </a: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10012680" y="2313432"/>
            <a:ext cx="1051560" cy="347472"/>
          </a:xfrm>
          <a:prstGeom prst="rect">
            <a:avLst/>
          </a:prstGeom>
          <a:solidFill>
            <a:srgbClr val="0A2238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058400" y="2395728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F7FBFF"/>
                </a:solidFill>
              </a:rPr>
              <a:t>0.3509</a:t>
            </a: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7040880" y="2660904"/>
            <a:ext cx="2971800" cy="347472"/>
          </a:xfrm>
          <a:prstGeom prst="rect">
            <a:avLst/>
          </a:prstGeom>
          <a:solidFill>
            <a:srgbClr val="0C2943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86600" y="2743200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7FBFF"/>
                </a:solidFill>
              </a:rPr>
              <a:t>Hospitality</a:t>
            </a: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10012680" y="2660904"/>
            <a:ext cx="1051560" cy="347472"/>
          </a:xfrm>
          <a:prstGeom prst="rect">
            <a:avLst/>
          </a:prstGeom>
          <a:solidFill>
            <a:srgbClr val="0C2943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058400" y="274320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F7FBFF"/>
                </a:solidFill>
              </a:rPr>
              <a:t>0.3494</a:t>
            </a:r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7040880" y="3008376"/>
            <a:ext cx="2971800" cy="347472"/>
          </a:xfrm>
          <a:prstGeom prst="rect">
            <a:avLst/>
          </a:prstGeom>
          <a:solidFill>
            <a:srgbClr val="0A2238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086600" y="3090672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7FBFF"/>
                </a:solidFill>
              </a:rPr>
              <a:t>Engineering</a:t>
            </a:r>
            <a:endParaRPr lang="en-US" dirty="0"/>
          </a:p>
        </p:txBody>
      </p:sp>
      <p:sp>
        <p:nvSpPr>
          <p:cNvPr id="40" name="Shape 37"/>
          <p:cNvSpPr/>
          <p:nvPr/>
        </p:nvSpPr>
        <p:spPr>
          <a:xfrm>
            <a:off x="10012680" y="3008376"/>
            <a:ext cx="1051560" cy="347472"/>
          </a:xfrm>
          <a:prstGeom prst="rect">
            <a:avLst/>
          </a:prstGeom>
          <a:solidFill>
            <a:srgbClr val="0A2238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058400" y="309067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F7FBFF"/>
                </a:solidFill>
              </a:rPr>
              <a:t>0.3483</a:t>
            </a:r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7040880" y="3355848"/>
            <a:ext cx="2971800" cy="347472"/>
          </a:xfrm>
          <a:prstGeom prst="rect">
            <a:avLst/>
          </a:prstGeom>
          <a:solidFill>
            <a:srgbClr val="0C2943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086600" y="3438144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7FBFF"/>
                </a:solidFill>
              </a:rPr>
              <a:t>Customer Service</a:t>
            </a:r>
            <a:endParaRPr lang="en-US" b="1" dirty="0"/>
          </a:p>
        </p:txBody>
      </p:sp>
      <p:sp>
        <p:nvSpPr>
          <p:cNvPr id="44" name="Shape 41"/>
          <p:cNvSpPr/>
          <p:nvPr/>
        </p:nvSpPr>
        <p:spPr>
          <a:xfrm>
            <a:off x="10012680" y="3355848"/>
            <a:ext cx="1051560" cy="347472"/>
          </a:xfrm>
          <a:prstGeom prst="rect">
            <a:avLst/>
          </a:prstGeom>
          <a:solidFill>
            <a:srgbClr val="0C2943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058400" y="343814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F7FBFF"/>
                </a:solidFill>
              </a:rPr>
              <a:t>0.3460</a:t>
            </a:r>
            <a:endParaRPr lang="en-US" b="1" dirty="0"/>
          </a:p>
        </p:txBody>
      </p:sp>
      <p:sp>
        <p:nvSpPr>
          <p:cNvPr id="46" name="Shape 43"/>
          <p:cNvSpPr/>
          <p:nvPr/>
        </p:nvSpPr>
        <p:spPr>
          <a:xfrm>
            <a:off x="7040880" y="3703320"/>
            <a:ext cx="2971800" cy="347472"/>
          </a:xfrm>
          <a:prstGeom prst="rect">
            <a:avLst/>
          </a:prstGeom>
          <a:solidFill>
            <a:srgbClr val="0A2238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086600" y="3785616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7FBFF"/>
                </a:solidFill>
              </a:rPr>
              <a:t>Healthcare / Pharmaceutical</a:t>
            </a:r>
            <a:endParaRPr lang="en-US" b="1" dirty="0"/>
          </a:p>
        </p:txBody>
      </p:sp>
      <p:sp>
        <p:nvSpPr>
          <p:cNvPr id="48" name="Shape 45"/>
          <p:cNvSpPr/>
          <p:nvPr/>
        </p:nvSpPr>
        <p:spPr>
          <a:xfrm>
            <a:off x="10012680" y="3703320"/>
            <a:ext cx="1051560" cy="347472"/>
          </a:xfrm>
          <a:prstGeom prst="rect">
            <a:avLst/>
          </a:prstGeom>
          <a:solidFill>
            <a:srgbClr val="0A2238"/>
          </a:solidFill>
          <a:ln w="5080">
            <a:solidFill>
              <a:srgbClr val="2E5F82">
                <a:alpha val="45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058400" y="378561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F7FBFF"/>
                </a:solidFill>
              </a:rPr>
              <a:t>0.3459</a:t>
            </a:r>
            <a:endParaRPr lang="en-US" b="1" dirty="0"/>
          </a:p>
        </p:txBody>
      </p:sp>
      <p:sp>
        <p:nvSpPr>
          <p:cNvPr id="50" name="Text 47"/>
          <p:cNvSpPr/>
          <p:nvPr/>
        </p:nvSpPr>
        <p:spPr>
          <a:xfrm>
            <a:off x="7086600" y="4572000"/>
            <a:ext cx="38404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7FBFF"/>
                </a:solidFill>
              </a:rPr>
              <a:t>Use this as the first shortlist for deeper employer-level validation and workforce intervention design.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502920" y="6492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source: hackathon-team-5.ipynb</a:t>
            </a:r>
            <a:endParaRPr lang="en-US" sz="650" dirty="0"/>
          </a:p>
        </p:txBody>
      </p:sp>
      <p:sp>
        <p:nvSpPr>
          <p:cNvPr id="52" name="Text 49"/>
          <p:cNvSpPr/>
          <p:nvPr/>
        </p:nvSpPr>
        <p:spPr>
          <a:xfrm>
            <a:off x="10835640" y="648309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B8C7D9"/>
                </a:solidFill>
              </a:rPr>
              <a:t>4:10–5:00  •  6/12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D8FF"/>
          </a:solidFill>
          <a:ln w="12700">
            <a:solidFill>
              <a:srgbClr val="38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137160"/>
            <a:ext cx="685800" cy="685800"/>
          </a:xfrm>
          <a:prstGeom prst="line">
            <a:avLst/>
          </a:prstGeom>
          <a:noFill/>
          <a:ln w="25400">
            <a:solidFill>
              <a:srgbClr val="38D8F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02012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95204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8396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81588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148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Insight 2: Position Level Affects Hiring Difficulty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4360" y="768096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D8FF"/>
                </a:solidFill>
              </a:rPr>
              <a:t>Evidence challenges the assumption that senior roles are always hardest to fill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9679" y="1259713"/>
            <a:ext cx="5432331" cy="4645152"/>
          </a:xfrm>
          <a:prstGeom prst="roundRect">
            <a:avLst>
              <a:gd name="adj" fmla="val 1441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pic>
        <p:nvPicPr>
          <p:cNvPr id="23" name="Image 0" descr="/mnt/data/rebuild_assets/positi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50" y="1713801"/>
            <a:ext cx="5026815" cy="4111885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502920" y="6492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source: hackathon-team-5.ipynb</a:t>
            </a:r>
            <a:endParaRPr lang="en-US" sz="650" dirty="0"/>
          </a:p>
        </p:txBody>
      </p:sp>
      <p:sp>
        <p:nvSpPr>
          <p:cNvPr id="57" name="Text 54"/>
          <p:cNvSpPr/>
          <p:nvPr/>
        </p:nvSpPr>
        <p:spPr>
          <a:xfrm>
            <a:off x="10835640" y="6483096"/>
            <a:ext cx="7944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B8C7D9"/>
                </a:solidFill>
              </a:rPr>
              <a:t>5:00–6:20  •  7/12</a:t>
            </a:r>
            <a:endParaRPr lang="en-US" sz="650" dirty="0"/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7899BE27-F20B-5C48-D8B4-45C5CCD9C3AF}"/>
              </a:ext>
            </a:extLst>
          </p:cNvPr>
          <p:cNvSpPr/>
          <p:nvPr/>
        </p:nvSpPr>
        <p:spPr>
          <a:xfrm>
            <a:off x="6499859" y="1143000"/>
            <a:ext cx="5268469" cy="4663440"/>
          </a:xfrm>
          <a:prstGeom prst="roundRect">
            <a:avLst>
              <a:gd name="adj" fmla="val 1404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pic>
        <p:nvPicPr>
          <p:cNvPr id="59" name="Image 0" descr="/mnt/data/rebuild_assets/salary_clean.png">
            <a:extLst>
              <a:ext uri="{FF2B5EF4-FFF2-40B4-BE49-F238E27FC236}">
                <a16:creationId xmlns:a16="http://schemas.microsoft.com/office/drawing/2014/main" id="{D8C62A61-3E5C-1797-B303-F9A55967D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171" y="1786064"/>
            <a:ext cx="4892150" cy="4011231"/>
          </a:xfrm>
          <a:prstGeom prst="rect">
            <a:avLst/>
          </a:prstGeom>
        </p:spPr>
      </p:pic>
      <p:sp>
        <p:nvSpPr>
          <p:cNvPr id="61" name="Text 52">
            <a:extLst>
              <a:ext uri="{FF2B5EF4-FFF2-40B4-BE49-F238E27FC236}">
                <a16:creationId xmlns:a16="http://schemas.microsoft.com/office/drawing/2014/main" id="{1EA062FC-1CC9-EC76-45A5-517E9CA7672E}"/>
              </a:ext>
            </a:extLst>
          </p:cNvPr>
          <p:cNvSpPr/>
          <p:nvPr/>
        </p:nvSpPr>
        <p:spPr>
          <a:xfrm>
            <a:off x="502920" y="1037145"/>
            <a:ext cx="11411712" cy="588645"/>
          </a:xfrm>
          <a:prstGeom prst="rect">
            <a:avLst/>
          </a:prstGeom>
          <a:solidFill>
            <a:srgbClr val="071B2C"/>
          </a:solidFill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7FBFF"/>
                </a:solidFill>
              </a:rPr>
              <a:t>Non-executive and Fresh/entry level roles scored higher than Senior Management.</a:t>
            </a:r>
            <a:endParaRPr lang="en-US" sz="24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7F71AF9-BFF2-A4AE-D856-01625D81C478}"/>
              </a:ext>
            </a:extLst>
          </p:cNvPr>
          <p:cNvSpPr/>
          <p:nvPr/>
        </p:nvSpPr>
        <p:spPr>
          <a:xfrm>
            <a:off x="950978" y="2192401"/>
            <a:ext cx="749806" cy="5778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A5CDEE4-5DA9-7247-2706-4B9978A1E17F}"/>
              </a:ext>
            </a:extLst>
          </p:cNvPr>
          <p:cNvSpPr/>
          <p:nvPr/>
        </p:nvSpPr>
        <p:spPr>
          <a:xfrm>
            <a:off x="6800088" y="4617720"/>
            <a:ext cx="768096" cy="7223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080912-BC94-37DC-3B6C-825E735EB5CE}"/>
              </a:ext>
            </a:extLst>
          </p:cNvPr>
          <p:cNvSpPr/>
          <p:nvPr/>
        </p:nvSpPr>
        <p:spPr>
          <a:xfrm>
            <a:off x="841248" y="4999385"/>
            <a:ext cx="923546" cy="293410"/>
          </a:xfrm>
          <a:prstGeom prst="rect">
            <a:avLst/>
          </a:prstGeom>
          <a:noFill/>
          <a:ln w="38100">
            <a:solidFill>
              <a:srgbClr val="FF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EAC92B3-28EF-01C2-FAC8-D7482552CBCB}"/>
              </a:ext>
            </a:extLst>
          </p:cNvPr>
          <p:cNvSpPr/>
          <p:nvPr/>
        </p:nvSpPr>
        <p:spPr>
          <a:xfrm>
            <a:off x="6644638" y="2220906"/>
            <a:ext cx="923546" cy="306324"/>
          </a:xfrm>
          <a:prstGeom prst="rect">
            <a:avLst/>
          </a:prstGeom>
          <a:noFill/>
          <a:ln w="38100">
            <a:solidFill>
              <a:srgbClr val="FF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9" name="Text 19">
            <a:extLst>
              <a:ext uri="{FF2B5EF4-FFF2-40B4-BE49-F238E27FC236}">
                <a16:creationId xmlns:a16="http://schemas.microsoft.com/office/drawing/2014/main" id="{B2F0EFA3-3705-A24C-0CE7-E1A5A95EF792}"/>
              </a:ext>
            </a:extLst>
          </p:cNvPr>
          <p:cNvSpPr/>
          <p:nvPr/>
        </p:nvSpPr>
        <p:spPr>
          <a:xfrm>
            <a:off x="621792" y="5989285"/>
            <a:ext cx="2532888" cy="443230"/>
          </a:xfrm>
          <a:prstGeom prst="rect">
            <a:avLst/>
          </a:prstGeom>
          <a:solidFill>
            <a:srgbClr val="071B2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D8FF"/>
                </a:solidFill>
              </a:rPr>
              <a:t>Surprising Finding </a:t>
            </a:r>
            <a:endParaRPr lang="en-US" sz="2400" b="1" dirty="0"/>
          </a:p>
        </p:txBody>
      </p:sp>
      <p:sp>
        <p:nvSpPr>
          <p:cNvPr id="70" name="Text 52">
            <a:extLst>
              <a:ext uri="{FF2B5EF4-FFF2-40B4-BE49-F238E27FC236}">
                <a16:creationId xmlns:a16="http://schemas.microsoft.com/office/drawing/2014/main" id="{366FED83-AA68-E83C-854C-8BAA7E144A66}"/>
              </a:ext>
            </a:extLst>
          </p:cNvPr>
          <p:cNvSpPr/>
          <p:nvPr/>
        </p:nvSpPr>
        <p:spPr>
          <a:xfrm>
            <a:off x="3464813" y="6065139"/>
            <a:ext cx="8576420" cy="3235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Common perception is that senior roles are harder to fill, data shows that entry level jobs are harder to fill.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2BBA8-8255-C1D5-26B2-EB8A4996D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4E2C41B-ABE0-7E53-94E4-2E2A2755E331}"/>
              </a:ext>
            </a:extLst>
          </p:cNvPr>
          <p:cNvSpPr/>
          <p:nvPr/>
        </p:nvSpPr>
        <p:spPr>
          <a:xfrm>
            <a:off x="0" y="82296"/>
            <a:ext cx="12191695" cy="6775704"/>
          </a:xfrm>
          <a:prstGeom prst="rect">
            <a:avLst/>
          </a:prstGeom>
          <a:solidFill>
            <a:srgbClr val="0D27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F12DC99-004E-D6A9-47D0-A1043BEA0540}"/>
              </a:ext>
            </a:extLst>
          </p:cNvPr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D8FF"/>
          </a:solidFill>
          <a:ln w="12700">
            <a:solidFill>
              <a:srgbClr val="38D8FF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CA722A8-E39E-AA9E-208F-F74C89447E53}"/>
              </a:ext>
            </a:extLst>
          </p:cNvPr>
          <p:cNvSpPr/>
          <p:nvPr/>
        </p:nvSpPr>
        <p:spPr>
          <a:xfrm>
            <a:off x="11521440" y="137160"/>
            <a:ext cx="685800" cy="685800"/>
          </a:xfrm>
          <a:prstGeom prst="line">
            <a:avLst/>
          </a:prstGeom>
          <a:noFill/>
          <a:ln w="25400">
            <a:solidFill>
              <a:srgbClr val="38D8FF">
                <a:alpha val="55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2AD28FC-107A-DBF8-A2DA-DF6336340876}"/>
              </a:ext>
            </a:extLst>
          </p:cNvPr>
          <p:cNvSpPr/>
          <p:nvPr/>
        </p:nvSpPr>
        <p:spPr>
          <a:xfrm>
            <a:off x="10561320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06031B0-E4A0-E74B-6F08-5FE4B85617A0}"/>
              </a:ext>
            </a:extLst>
          </p:cNvPr>
          <p:cNvSpPr/>
          <p:nvPr/>
        </p:nvSpPr>
        <p:spPr>
          <a:xfrm>
            <a:off x="10561320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7BF3526-07A9-99CE-3E4C-067D7AB5398F}"/>
              </a:ext>
            </a:extLst>
          </p:cNvPr>
          <p:cNvSpPr/>
          <p:nvPr/>
        </p:nvSpPr>
        <p:spPr>
          <a:xfrm>
            <a:off x="10561320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02FEDA5-525E-492B-9375-A8B0550ABAA8}"/>
              </a:ext>
            </a:extLst>
          </p:cNvPr>
          <p:cNvSpPr/>
          <p:nvPr/>
        </p:nvSpPr>
        <p:spPr>
          <a:xfrm>
            <a:off x="10561320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7DAEF46-47E6-BD30-0051-651BEDA73C13}"/>
              </a:ext>
            </a:extLst>
          </p:cNvPr>
          <p:cNvSpPr/>
          <p:nvPr/>
        </p:nvSpPr>
        <p:spPr>
          <a:xfrm>
            <a:off x="10954512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7C1F67D-E5F5-6A20-30AD-14E955794D8B}"/>
              </a:ext>
            </a:extLst>
          </p:cNvPr>
          <p:cNvSpPr/>
          <p:nvPr/>
        </p:nvSpPr>
        <p:spPr>
          <a:xfrm>
            <a:off x="10954512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0C19A25-E5C4-912A-B521-902F51359A9A}"/>
              </a:ext>
            </a:extLst>
          </p:cNvPr>
          <p:cNvSpPr/>
          <p:nvPr/>
        </p:nvSpPr>
        <p:spPr>
          <a:xfrm>
            <a:off x="10954512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C87F1E6-1290-9D40-CE22-E44B5670C112}"/>
              </a:ext>
            </a:extLst>
          </p:cNvPr>
          <p:cNvSpPr/>
          <p:nvPr/>
        </p:nvSpPr>
        <p:spPr>
          <a:xfrm>
            <a:off x="10954512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D8B2B84-7EE2-D97F-8872-31DE84EC1CD3}"/>
              </a:ext>
            </a:extLst>
          </p:cNvPr>
          <p:cNvSpPr/>
          <p:nvPr/>
        </p:nvSpPr>
        <p:spPr>
          <a:xfrm>
            <a:off x="11347704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840AF5A-19DA-8A88-DC92-35E73C6E283F}"/>
              </a:ext>
            </a:extLst>
          </p:cNvPr>
          <p:cNvSpPr/>
          <p:nvPr/>
        </p:nvSpPr>
        <p:spPr>
          <a:xfrm>
            <a:off x="11347704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3E5B5A6-8134-7AF6-FEB0-C97BADA25F3E}"/>
              </a:ext>
            </a:extLst>
          </p:cNvPr>
          <p:cNvSpPr/>
          <p:nvPr/>
        </p:nvSpPr>
        <p:spPr>
          <a:xfrm>
            <a:off x="11347704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8E1EC71-5F21-CC93-6719-69C008F74E0F}"/>
              </a:ext>
            </a:extLst>
          </p:cNvPr>
          <p:cNvSpPr/>
          <p:nvPr/>
        </p:nvSpPr>
        <p:spPr>
          <a:xfrm>
            <a:off x="11347704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A819E53-E3A6-E7E1-6892-06C6BD6917EE}"/>
              </a:ext>
            </a:extLst>
          </p:cNvPr>
          <p:cNvSpPr/>
          <p:nvPr/>
        </p:nvSpPr>
        <p:spPr>
          <a:xfrm>
            <a:off x="11740896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7518646-2D9B-3773-5DA6-A7B8A5B58972}"/>
              </a:ext>
            </a:extLst>
          </p:cNvPr>
          <p:cNvSpPr/>
          <p:nvPr/>
        </p:nvSpPr>
        <p:spPr>
          <a:xfrm>
            <a:off x="11740896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4115EBA-5BED-E714-001C-84ABE4A5C9C8}"/>
              </a:ext>
            </a:extLst>
          </p:cNvPr>
          <p:cNvSpPr/>
          <p:nvPr/>
        </p:nvSpPr>
        <p:spPr>
          <a:xfrm>
            <a:off x="11740896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5A57410-2CCB-B3B1-78EE-FBDAD8342A45}"/>
              </a:ext>
            </a:extLst>
          </p:cNvPr>
          <p:cNvSpPr/>
          <p:nvPr/>
        </p:nvSpPr>
        <p:spPr>
          <a:xfrm>
            <a:off x="11740896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7E61C21-6B8E-33F4-3348-3519435BC119}"/>
              </a:ext>
            </a:extLst>
          </p:cNvPr>
          <p:cNvSpPr/>
          <p:nvPr/>
        </p:nvSpPr>
        <p:spPr>
          <a:xfrm>
            <a:off x="594360" y="41148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Insight 3: High Vacancies but Low Application Rate</a:t>
            </a:r>
            <a:endParaRPr lang="en-US" sz="2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C9CBF49-76D4-50E1-BE8E-14552C8B271E}"/>
              </a:ext>
            </a:extLst>
          </p:cNvPr>
          <p:cNvSpPr/>
          <p:nvPr/>
        </p:nvSpPr>
        <p:spPr>
          <a:xfrm>
            <a:off x="594360" y="768096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D8FF"/>
                </a:solidFill>
              </a:rPr>
              <a:t>Detecting supply–demand mismatch from application conversion</a:t>
            </a:r>
            <a:endParaRPr lang="en-US" sz="12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9FA39D2-4D2C-AB39-5305-9E2BA13BAB42}"/>
              </a:ext>
            </a:extLst>
          </p:cNvPr>
          <p:cNvSpPr/>
          <p:nvPr/>
        </p:nvSpPr>
        <p:spPr>
          <a:xfrm>
            <a:off x="148565" y="1097280"/>
            <a:ext cx="7751851" cy="525780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3CE30E9E-C6F0-3C3D-E5C1-B847D7D1ABA4}"/>
              </a:ext>
            </a:extLst>
          </p:cNvPr>
          <p:cNvSpPr/>
          <p:nvPr/>
        </p:nvSpPr>
        <p:spPr>
          <a:xfrm>
            <a:off x="8076413" y="1097280"/>
            <a:ext cx="3280435" cy="5239512"/>
          </a:xfrm>
          <a:prstGeom prst="roundRect">
            <a:avLst>
              <a:gd name="adj" fmla="val 2051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C92C0CD2-9DDF-7889-9ECC-44CD3258A1CE}"/>
              </a:ext>
            </a:extLst>
          </p:cNvPr>
          <p:cNvSpPr/>
          <p:nvPr/>
        </p:nvSpPr>
        <p:spPr>
          <a:xfrm>
            <a:off x="8302752" y="1636776"/>
            <a:ext cx="2706624" cy="1728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F7FBFF"/>
                </a:solidFill>
              </a:rPr>
              <a:t>Application rate = applications ÷ views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</a:rPr>
              <a:t>High vacancy roles were filtered using numberOfVacancies &gt; 100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</a:rPr>
              <a:t>Low application rate suggests weak candidate conversion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</a:rPr>
              <a:t>This flags potential supply–demand mismatch</a:t>
            </a:r>
            <a:endParaRPr lang="en-US" sz="140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3EF1FEA1-5541-8C42-FCA7-2325AB779725}"/>
              </a:ext>
            </a:extLst>
          </p:cNvPr>
          <p:cNvSpPr/>
          <p:nvPr/>
        </p:nvSpPr>
        <p:spPr>
          <a:xfrm>
            <a:off x="8202168" y="4325112"/>
            <a:ext cx="2971800" cy="1911096"/>
          </a:xfrm>
          <a:prstGeom prst="roundRect">
            <a:avLst>
              <a:gd name="adj" fmla="val 5161"/>
            </a:avLst>
          </a:prstGeom>
          <a:solidFill>
            <a:srgbClr val="081A2B"/>
          </a:solidFill>
          <a:ln w="13970">
            <a:solidFill>
              <a:srgbClr val="285575">
                <a:alpha val="85000"/>
              </a:srgbClr>
            </a:solidFill>
            <a:prstDash val="solid"/>
          </a:ln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52B4A5AA-3B66-D0D5-A3D9-13DB88DD066A}"/>
              </a:ext>
            </a:extLst>
          </p:cNvPr>
          <p:cNvSpPr/>
          <p:nvPr/>
        </p:nvSpPr>
        <p:spPr>
          <a:xfrm>
            <a:off x="8311896" y="4453128"/>
            <a:ext cx="2715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D8FF"/>
                </a:solidFill>
              </a:rPr>
              <a:t>Core calculation</a:t>
            </a:r>
            <a:endParaRPr lang="en-US" sz="14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9916A9E4-201B-0C95-48F1-B9328DE60F26}"/>
              </a:ext>
            </a:extLst>
          </p:cNvPr>
          <p:cNvSpPr/>
          <p:nvPr/>
        </p:nvSpPr>
        <p:spPr>
          <a:xfrm>
            <a:off x="8348472" y="4864608"/>
            <a:ext cx="267919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7F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df_clean['app_rate'] = df_clean['metadata_totalNumberJobApplication'] / df_clean['metadata_totalNumberOfView']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F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high_vacancy_df = df_clean[df_clean['numberOfVacancies'] &gt; 100]</a:t>
            </a:r>
            <a:endParaRPr lang="en-US" sz="110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C2602961-58B2-1109-545F-A5AB9CF85D75}"/>
              </a:ext>
            </a:extLst>
          </p:cNvPr>
          <p:cNvSpPr/>
          <p:nvPr/>
        </p:nvSpPr>
        <p:spPr>
          <a:xfrm>
            <a:off x="502920" y="6492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source: hackathon-team-5.ipynb</a:t>
            </a:r>
            <a:endParaRPr lang="en-US" sz="65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35797229-F8E5-AA2A-0A2F-E040A1D88968}"/>
              </a:ext>
            </a:extLst>
          </p:cNvPr>
          <p:cNvSpPr/>
          <p:nvPr/>
        </p:nvSpPr>
        <p:spPr>
          <a:xfrm>
            <a:off x="10835640" y="648309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C7D9"/>
                </a:solidFill>
              </a:rPr>
              <a:t>7:00–8:15  •  9/12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FF2BF90-4C73-C56F-0C10-7C1563F40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42" y="1435222"/>
            <a:ext cx="7690586" cy="4380362"/>
          </a:xfrm>
          <a:prstGeom prst="rect">
            <a:avLst/>
          </a:prstGeom>
        </p:spPr>
      </p:pic>
      <p:sp>
        <p:nvSpPr>
          <p:cNvPr id="35" name="Text 25">
            <a:extLst>
              <a:ext uri="{FF2B5EF4-FFF2-40B4-BE49-F238E27FC236}">
                <a16:creationId xmlns:a16="http://schemas.microsoft.com/office/drawing/2014/main" id="{7AE00AEE-4C03-0A76-F4FE-59CACAEBBFEE}"/>
              </a:ext>
            </a:extLst>
          </p:cNvPr>
          <p:cNvSpPr/>
          <p:nvPr/>
        </p:nvSpPr>
        <p:spPr>
          <a:xfrm>
            <a:off x="8311896" y="1374648"/>
            <a:ext cx="2715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D8FF"/>
                </a:solidFill>
              </a:rPr>
              <a:t>Code</a:t>
            </a:r>
            <a:endParaRPr lang="en-US" sz="16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D281B5-02E6-F1A3-26A1-1A5914694A6F}"/>
              </a:ext>
            </a:extLst>
          </p:cNvPr>
          <p:cNvSpPr/>
          <p:nvPr/>
        </p:nvSpPr>
        <p:spPr>
          <a:xfrm>
            <a:off x="537972" y="1606296"/>
            <a:ext cx="1649552" cy="2353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C17B698-1D5C-7C56-5A1C-9D63AEAA044E}"/>
              </a:ext>
            </a:extLst>
          </p:cNvPr>
          <p:cNvSpPr/>
          <p:nvPr/>
        </p:nvSpPr>
        <p:spPr>
          <a:xfrm>
            <a:off x="2525852" y="1687068"/>
            <a:ext cx="3569995" cy="11338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E.g. Health care and general management are the job categories with high vacancies and low application rate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4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D8FF"/>
          </a:solidFill>
          <a:ln w="12700">
            <a:solidFill>
              <a:srgbClr val="38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137160"/>
            <a:ext cx="685800" cy="685800"/>
          </a:xfrm>
          <a:prstGeom prst="line">
            <a:avLst/>
          </a:prstGeom>
          <a:noFill/>
          <a:ln w="25400">
            <a:solidFill>
              <a:srgbClr val="38D8F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1320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54512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54512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54512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54512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47704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47704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47704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47704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40896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40896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40896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40896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148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Monthly Repost Trends for Top 5 Sectors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4360" y="768096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D8FF"/>
                </a:solidFill>
              </a:rPr>
              <a:t>Reposts help indicate where hiring pressure persists over time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1143000"/>
            <a:ext cx="70866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pic>
        <p:nvPicPr>
          <p:cNvPr id="23" name="Image 0" descr="/mnt/data/rebuild_assets/cell_2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389888"/>
            <a:ext cx="6629400" cy="466344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8001000" y="1143000"/>
            <a:ext cx="3474720" cy="5212080"/>
          </a:xfrm>
          <a:prstGeom prst="roundRect">
            <a:avLst>
              <a:gd name="adj" fmla="val 2105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75320" y="14447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35A"/>
                </a:solidFill>
              </a:rPr>
              <a:t>Notebook logic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275320" y="1874520"/>
            <a:ext cx="283464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F7FBFF"/>
                </a:solidFill>
              </a:rPr>
              <a:t>Identify the top 5 sectors using difficulty score</a:t>
            </a:r>
            <a:endParaRPr lang="en-US" sz="1150" dirty="0"/>
          </a:p>
          <a:p>
            <a:r>
              <a:rPr lang="en-US" sz="1150" dirty="0">
                <a:solidFill>
                  <a:srgbClr val="F7FBFF"/>
                </a:solidFill>
              </a:rPr>
              <a:t>Filter the dataset to those sectors</a:t>
            </a:r>
            <a:endParaRPr lang="en-US" sz="1150" dirty="0"/>
          </a:p>
          <a:p>
            <a:r>
              <a:rPr lang="en-US" sz="1150" dirty="0">
                <a:solidFill>
                  <a:srgbClr val="F7FBFF"/>
                </a:solidFill>
              </a:rPr>
              <a:t>Group by sector and month</a:t>
            </a:r>
            <a:endParaRPr lang="en-US" sz="1150" dirty="0"/>
          </a:p>
          <a:p>
            <a:r>
              <a:rPr lang="en-US" sz="1150" dirty="0">
                <a:solidFill>
                  <a:srgbClr val="F7FBFF"/>
                </a:solidFill>
              </a:rPr>
              <a:t>Sum monthly repost counts</a:t>
            </a:r>
            <a:endParaRPr lang="en-US" sz="1150" dirty="0"/>
          </a:p>
          <a:p>
            <a:r>
              <a:rPr lang="en-US" sz="1150" dirty="0">
                <a:solidFill>
                  <a:srgbClr val="F7FBFF"/>
                </a:solidFill>
              </a:rPr>
              <a:t>Plot the trend over time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275320" y="4069080"/>
            <a:ext cx="2880360" cy="1783080"/>
          </a:xfrm>
          <a:prstGeom prst="roundRect">
            <a:avLst>
              <a:gd name="adj" fmla="val 4103"/>
            </a:avLst>
          </a:prstGeom>
          <a:solidFill>
            <a:srgbClr val="081A2B"/>
          </a:solidFill>
          <a:ln w="13970">
            <a:solidFill>
              <a:srgbClr val="285575">
                <a:alpha val="8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03336" y="4178808"/>
            <a:ext cx="2624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D8FF"/>
                </a:solidFill>
              </a:rPr>
              <a:t>Trend calculation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421624" y="4416552"/>
            <a:ext cx="258775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7F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top_5_sectors = df_clean.groupby('primary_category')['hiring_difficulty_score'].mean().sort_values(ascending=False).head(5).index.tolist()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7F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trends = df_top_5.groupby(['primary_category', pd.Grouper(key='metadata_originalPostingDate', freq='MS')])['metadata_repostCount'].sum().reset_index()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02920" y="6492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source: hackathon-team-5.ipynb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10835640" y="648309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B8C7D9"/>
                </a:solidFill>
              </a:rPr>
              <a:t>8:15–9:00  •  10/12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D8FF"/>
          </a:solidFill>
          <a:ln w="12700">
            <a:solidFill>
              <a:srgbClr val="38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137160"/>
            <a:ext cx="685800" cy="685800"/>
          </a:xfrm>
          <a:prstGeom prst="line">
            <a:avLst/>
          </a:prstGeom>
          <a:noFill/>
          <a:ln w="25400">
            <a:solidFill>
              <a:srgbClr val="38D8F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1320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54512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54512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54512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54512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47704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47704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47704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47704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40896" y="621792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40896" y="1005840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40896" y="1389888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40896" y="1773936"/>
            <a:ext cx="27432" cy="27432"/>
          </a:xfrm>
          <a:prstGeom prst="ellipse">
            <a:avLst/>
          </a:prstGeom>
          <a:solidFill>
            <a:srgbClr val="38D8FF">
              <a:alpha val="30000"/>
            </a:srgbClr>
          </a:solidFill>
          <a:ln w="12700">
            <a:solidFill>
              <a:srgbClr val="38D8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148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Caveats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94360" y="768096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D8FF"/>
                </a:solidFill>
              </a:rPr>
              <a:t>What this analysis can and cannot conclude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" y="1207008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153619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35A"/>
                </a:solidFill>
              </a:rPr>
              <a:t>Caveats to state clearly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1965960"/>
            <a:ext cx="457200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F7FBFF"/>
                </a:solidFill>
              </a:rPr>
              <a:t>Repost count is a proxy, not direct proof of failed hiring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</a:rPr>
              <a:t>Application volume does not measure candidate quality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</a:rPr>
              <a:t>Views and applications may be influenced by platform behaviour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</a:rPr>
              <a:t>Salary fields may not fully reflect total compensation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</a:rPr>
              <a:t>Dataset covers October 2022 to May 2024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1207008"/>
            <a:ext cx="5074920" cy="4892040"/>
          </a:xfrm>
          <a:prstGeom prst="roundRect">
            <a:avLst>
              <a:gd name="adj" fmla="val 1495"/>
            </a:avLst>
          </a:prstGeom>
          <a:solidFill>
            <a:srgbClr val="0D2740"/>
          </a:solidFill>
          <a:ln w="13970">
            <a:solidFill>
              <a:srgbClr val="2E5F82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153619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D8FF"/>
                </a:solidFill>
              </a:rPr>
              <a:t>How to use the analysis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20840" y="2029968"/>
            <a:ext cx="43434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BFF"/>
                </a:solidFill>
              </a:rPr>
              <a:t>Use the Hiring Difficulty Index as a prioritisation tool to decide where deeper sector-level and employer-level investigation should begin.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49440" y="3749040"/>
            <a:ext cx="3886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B8C7D9"/>
                </a:solidFill>
              </a:rPr>
              <a:t>The analysis ranks likely areas of concern; it should be paired with policy judgement and employer validation.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492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source: hackathon-team-5.ipynb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0835640" y="648309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B8C7D9"/>
                </a:solidFill>
              </a:rPr>
              <a:t>9:00–9:30  •  11/12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B"/>
          </a:solidFill>
          <a:ln w="12700">
            <a:solidFill>
              <a:srgbClr val="061A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2D7FF"/>
          </a:solidFill>
          <a:ln w="12700">
            <a:solidFill>
              <a:srgbClr val="12D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71E33"/>
          </a:solidFill>
          <a:ln w="12700">
            <a:solidFill>
              <a:srgbClr val="071E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502920"/>
            <a:ext cx="32004" cy="32004"/>
          </a:xfrm>
          <a:prstGeom prst="ellipse">
            <a:avLst/>
          </a:prstGeom>
          <a:solidFill>
            <a:srgbClr val="2C5875">
              <a:alpha val="70000"/>
            </a:srgbClr>
          </a:solidFill>
          <a:ln w="12700">
            <a:solidFill>
              <a:srgbClr val="2C587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0" y="502920"/>
            <a:ext cx="32004" cy="32004"/>
          </a:xfrm>
          <a:prstGeom prst="ellipse">
            <a:avLst/>
          </a:prstGeom>
          <a:solidFill>
            <a:srgbClr val="2C5875">
              <a:alpha val="70000"/>
            </a:srgbClr>
          </a:solidFill>
          <a:ln w="12700">
            <a:solidFill>
              <a:srgbClr val="2C587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84280" y="502920"/>
            <a:ext cx="32004" cy="32004"/>
          </a:xfrm>
          <a:prstGeom prst="ellipse">
            <a:avLst/>
          </a:prstGeom>
          <a:solidFill>
            <a:srgbClr val="2C5875">
              <a:alpha val="70000"/>
            </a:srgbClr>
          </a:solidFill>
          <a:ln w="12700">
            <a:solidFill>
              <a:srgbClr val="2C587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61320" y="886968"/>
            <a:ext cx="32004" cy="32004"/>
          </a:xfrm>
          <a:prstGeom prst="ellipse">
            <a:avLst/>
          </a:prstGeom>
          <a:solidFill>
            <a:srgbClr val="2C5875">
              <a:alpha val="70000"/>
            </a:srgbClr>
          </a:solidFill>
          <a:ln w="12700">
            <a:solidFill>
              <a:srgbClr val="2C587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0" y="886968"/>
            <a:ext cx="32004" cy="32004"/>
          </a:xfrm>
          <a:prstGeom prst="ellipse">
            <a:avLst/>
          </a:prstGeom>
          <a:solidFill>
            <a:srgbClr val="2C5875">
              <a:alpha val="70000"/>
            </a:srgbClr>
          </a:solidFill>
          <a:ln w="12700">
            <a:solidFill>
              <a:srgbClr val="2C587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886968"/>
            <a:ext cx="32004" cy="32004"/>
          </a:xfrm>
          <a:prstGeom prst="ellipse">
            <a:avLst/>
          </a:prstGeom>
          <a:solidFill>
            <a:srgbClr val="2C5875">
              <a:alpha val="70000"/>
            </a:srgbClr>
          </a:solidFill>
          <a:ln w="12700">
            <a:solidFill>
              <a:srgbClr val="2C587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61320" y="1271016"/>
            <a:ext cx="32004" cy="32004"/>
          </a:xfrm>
          <a:prstGeom prst="ellipse">
            <a:avLst/>
          </a:prstGeom>
          <a:solidFill>
            <a:srgbClr val="2C5875">
              <a:alpha val="70000"/>
            </a:srgbClr>
          </a:solidFill>
          <a:ln w="12700">
            <a:solidFill>
              <a:srgbClr val="2C587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0" y="1271016"/>
            <a:ext cx="32004" cy="32004"/>
          </a:xfrm>
          <a:prstGeom prst="ellipse">
            <a:avLst/>
          </a:prstGeom>
          <a:solidFill>
            <a:srgbClr val="2C5875">
              <a:alpha val="70000"/>
            </a:srgbClr>
          </a:solidFill>
          <a:ln w="12700">
            <a:solidFill>
              <a:srgbClr val="2C587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84280" y="1271016"/>
            <a:ext cx="32004" cy="32004"/>
          </a:xfrm>
          <a:prstGeom prst="ellipse">
            <a:avLst/>
          </a:prstGeom>
          <a:solidFill>
            <a:srgbClr val="2C5875">
              <a:alpha val="70000"/>
            </a:srgbClr>
          </a:solidFill>
          <a:ln w="12700">
            <a:solidFill>
              <a:srgbClr val="2C587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61320" y="1655064"/>
            <a:ext cx="32004" cy="32004"/>
          </a:xfrm>
          <a:prstGeom prst="ellipse">
            <a:avLst/>
          </a:prstGeom>
          <a:solidFill>
            <a:srgbClr val="2C5875">
              <a:alpha val="70000"/>
            </a:srgbClr>
          </a:solidFill>
          <a:ln w="12700">
            <a:solidFill>
              <a:srgbClr val="2C587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0" y="1655064"/>
            <a:ext cx="32004" cy="32004"/>
          </a:xfrm>
          <a:prstGeom prst="ellipse">
            <a:avLst/>
          </a:prstGeom>
          <a:solidFill>
            <a:srgbClr val="2C5875">
              <a:alpha val="70000"/>
            </a:srgbClr>
          </a:solidFill>
          <a:ln w="12700">
            <a:solidFill>
              <a:srgbClr val="2C587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84280" y="1655064"/>
            <a:ext cx="32004" cy="32004"/>
          </a:xfrm>
          <a:prstGeom prst="ellipse">
            <a:avLst/>
          </a:prstGeom>
          <a:solidFill>
            <a:srgbClr val="2C5875">
              <a:alpha val="70000"/>
            </a:srgbClr>
          </a:solidFill>
          <a:ln w="12700">
            <a:solidFill>
              <a:srgbClr val="2C587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61320" y="2039112"/>
            <a:ext cx="32004" cy="32004"/>
          </a:xfrm>
          <a:prstGeom prst="ellipse">
            <a:avLst/>
          </a:prstGeom>
          <a:solidFill>
            <a:srgbClr val="2C5875">
              <a:alpha val="70000"/>
            </a:srgbClr>
          </a:solidFill>
          <a:ln w="12700">
            <a:solidFill>
              <a:srgbClr val="2C587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2039112"/>
            <a:ext cx="32004" cy="32004"/>
          </a:xfrm>
          <a:prstGeom prst="ellipse">
            <a:avLst/>
          </a:prstGeom>
          <a:solidFill>
            <a:srgbClr val="2C5875">
              <a:alpha val="70000"/>
            </a:srgbClr>
          </a:solidFill>
          <a:ln w="12700">
            <a:solidFill>
              <a:srgbClr val="2C587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747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Top 5 Priority Sectors for Intervention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" y="694944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B9CDE1"/>
                </a:solidFill>
              </a:rPr>
              <a:t>Different sectors require different policy levers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68096" y="1097280"/>
            <a:ext cx="5961888" cy="493776"/>
          </a:xfrm>
          <a:prstGeom prst="roundRect">
            <a:avLst>
              <a:gd name="adj" fmla="val 14815"/>
            </a:avLst>
          </a:prstGeom>
          <a:solidFill>
            <a:srgbClr val="113D5E"/>
          </a:solidFill>
          <a:ln w="7620">
            <a:solidFill>
              <a:srgbClr val="FFD66B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1225296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1225296"/>
            <a:ext cx="379476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/ Civil Service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1225296"/>
            <a:ext cx="82296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0.3509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8096" y="1764792"/>
            <a:ext cx="5961888" cy="493776"/>
          </a:xfrm>
          <a:prstGeom prst="roundRect">
            <a:avLst>
              <a:gd name="adj" fmla="val 14815"/>
            </a:avLst>
          </a:prstGeom>
          <a:solidFill>
            <a:srgbClr val="0A243B"/>
          </a:solidFill>
          <a:ln w="7620">
            <a:solidFill>
              <a:srgbClr val="12D7FF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1892808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1892808"/>
            <a:ext cx="379476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1892808"/>
            <a:ext cx="82296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2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0.3494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8096" y="2432304"/>
            <a:ext cx="5961888" cy="493776"/>
          </a:xfrm>
          <a:prstGeom prst="roundRect">
            <a:avLst>
              <a:gd name="adj" fmla="val 14815"/>
            </a:avLst>
          </a:prstGeom>
          <a:solidFill>
            <a:srgbClr val="0A243B"/>
          </a:solidFill>
          <a:ln w="7620">
            <a:solidFill>
              <a:srgbClr val="78E3B5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256032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8E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63040" y="2560320"/>
            <a:ext cx="379476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0" y="2560320"/>
            <a:ext cx="82296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78E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0.3483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8096" y="3099816"/>
            <a:ext cx="5961888" cy="493776"/>
          </a:xfrm>
          <a:prstGeom prst="roundRect">
            <a:avLst>
              <a:gd name="adj" fmla="val 14815"/>
            </a:avLst>
          </a:prstGeom>
          <a:solidFill>
            <a:srgbClr val="0A243B"/>
          </a:solidFill>
          <a:ln w="7620">
            <a:solidFill>
              <a:srgbClr val="12D7FF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" y="3227832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63040" y="3227832"/>
            <a:ext cx="379476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Service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86400" y="3227832"/>
            <a:ext cx="82296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2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0.3460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8096" y="3767328"/>
            <a:ext cx="5961888" cy="493776"/>
          </a:xfrm>
          <a:prstGeom prst="roundRect">
            <a:avLst>
              <a:gd name="adj" fmla="val 14815"/>
            </a:avLst>
          </a:prstGeom>
          <a:solidFill>
            <a:srgbClr val="0A243B"/>
          </a:solidFill>
          <a:ln w="7620">
            <a:solidFill>
              <a:srgbClr val="78E3B5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1832" y="3895344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8E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63040" y="3895344"/>
            <a:ext cx="379476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/ Pharmaceutical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486400" y="3895344"/>
            <a:ext cx="82296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78E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0.3459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223760" y="1097280"/>
            <a:ext cx="4069080" cy="3163824"/>
          </a:xfrm>
          <a:prstGeom prst="roundRect">
            <a:avLst>
              <a:gd name="adj" fmla="val 2312"/>
            </a:avLst>
          </a:prstGeom>
          <a:solidFill>
            <a:srgbClr val="0A243B"/>
          </a:solidFill>
          <a:ln w="8890">
            <a:solidFill>
              <a:srgbClr val="2C58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79792" y="1353312"/>
            <a:ext cx="24688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D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Intervention design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79792" y="1755648"/>
            <a:ext cx="3429000" cy="1700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Hospitality / Customer Service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Attraction, retention, job redesign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Engineering / Healthcare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Longer-term skills conversion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Public / Civil Service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Review role requirements and applicant fit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68096" y="4828032"/>
            <a:ext cx="10524744" cy="512064"/>
          </a:xfrm>
          <a:prstGeom prst="roundRect">
            <a:avLst>
              <a:gd name="adj" fmla="val 14286"/>
            </a:avLst>
          </a:prstGeom>
          <a:solidFill>
            <a:srgbClr val="113D5E"/>
          </a:solidFill>
          <a:ln w="7620">
            <a:solidFill>
              <a:srgbClr val="12D7FF">
                <a:alpha val="7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7552" y="5010912"/>
            <a:ext cx="100584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takeaway: the top 5 sectors require differentiated policy levers rather than a generic retraining response.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04672" y="5669280"/>
            <a:ext cx="10561320" cy="603504"/>
          </a:xfrm>
          <a:prstGeom prst="roundRect">
            <a:avLst>
              <a:gd name="adj" fmla="val 14286"/>
            </a:avLst>
          </a:prstGeom>
          <a:solidFill>
            <a:srgbClr val="03111D"/>
          </a:solidFill>
          <a:ln w="7620">
            <a:solidFill>
              <a:srgbClr val="12D7FF">
                <a:alpha val="7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3544" y="5769864"/>
            <a:ext cx="1032357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top_5_sectors = difficulty_by_primary_category.head(5).index.tolist()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A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df_top_5 = df_clean[df_clean['primary_category'].isin(top_5_sectors)].copy()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0292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9CDE1"/>
                </a:solidFill>
              </a:rPr>
              <a:t>Verified source: hackathon-team-5.ipynb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9464040" y="64739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9CDE1"/>
                </a:solidFill>
              </a:rPr>
              <a:t>4:10–5:00  •  6/12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2297</Words>
  <Application>Microsoft Office PowerPoint</Application>
  <PresentationFormat>Widescreen</PresentationFormat>
  <Paragraphs>217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Aptos Mono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Team 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Identifying Structural Hiring Difficulties in Singapore</dc:title>
  <dc:subject>Structural Hiring Difficulty &amp; Labour Supply–Demand Mismatch in Singapore</dc:subject>
  <dc:creator>OpenAI</dc:creator>
  <cp:lastModifiedBy>Shi Hui Soh</cp:lastModifiedBy>
  <cp:revision>6</cp:revision>
  <dcterms:created xsi:type="dcterms:W3CDTF">2026-05-08T17:37:52Z</dcterms:created>
  <dcterms:modified xsi:type="dcterms:W3CDTF">2026-05-09T02:31:25Z</dcterms:modified>
</cp:coreProperties>
</file>